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58" r:id="rId3"/>
    <p:sldId id="259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94"/>
  </p:normalViewPr>
  <p:slideViewPr>
    <p:cSldViewPr snapToGrid="0" snapToObjects="1">
      <p:cViewPr>
        <p:scale>
          <a:sx n="200" d="100"/>
          <a:sy n="200" d="100"/>
        </p:scale>
        <p:origin x="-1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DD3D8B-F941-7A44-B495-413DB63A3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B23EC-11DF-5B40-9B28-3E40FA681C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B7431-2289-5947-8194-0CFC384CFC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1D374-B28A-3D41-A294-73C33793DB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9AA9A-0116-BE47-8880-25F32F2DB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8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47C52-DF7F-F947-B704-F0BAD17B1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3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9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3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8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5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6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0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9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nisabstract.com/" TargetMode="External"/><Relationship Id="rId2" Type="http://schemas.openxmlformats.org/officeDocument/2006/relationships/hyperlink" Target="https://github.com/JeffSackmann/tennis_atp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C146EC-635D-434E-871A-999618A61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57" y="73152"/>
            <a:ext cx="2300583" cy="2228849"/>
          </a:xfrm>
          <a:ln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r>
              <a:rPr lang="sl-SI" b="1" dirty="0"/>
              <a:t>Napovedovanje izidov teniških tekem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FDA8A2-4269-E344-ADF2-94E0D830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953" y="73152"/>
            <a:ext cx="6610190" cy="4727448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 err="1"/>
              <a:t>Podatki</a:t>
            </a:r>
            <a:endParaRPr lang="en-US" sz="1600" b="1" dirty="0"/>
          </a:p>
          <a:p>
            <a:pPr>
              <a:buFontTx/>
              <a:buChar char="-"/>
            </a:pPr>
            <a:r>
              <a:rPr lang="en-US" sz="1600" dirty="0" err="1"/>
              <a:t>viri</a:t>
            </a:r>
            <a:r>
              <a:rPr lang="en-US" sz="1600" dirty="0"/>
              <a:t> </a:t>
            </a:r>
            <a:r>
              <a:rPr lang="en-US" sz="1600" dirty="0" err="1"/>
              <a:t>podatkov</a:t>
            </a:r>
            <a:r>
              <a:rPr lang="sl-SI" sz="1600" dirty="0"/>
              <a:t>: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https://github.com/JeffSackmann/tennis_atp</a:t>
            </a:r>
            <a:endParaRPr lang="sl-SI" sz="1600" dirty="0"/>
          </a:p>
          <a:p>
            <a:pPr marL="0" indent="0">
              <a:buNone/>
            </a:pPr>
            <a:r>
              <a:rPr lang="sl-SI" sz="1500" dirty="0">
                <a:hlinkClick r:id="rId3" tooltip="https://www.tennisabstract.com/"/>
              </a:rPr>
              <a:t>https://www.tennisabstract.com/</a:t>
            </a:r>
            <a:endParaRPr lang="sl-SI" sz="1600" dirty="0"/>
          </a:p>
          <a:p>
            <a:pPr>
              <a:buFontTx/>
              <a:buChar char="-"/>
            </a:pPr>
            <a:r>
              <a:rPr lang="en-US" sz="1600" dirty="0" err="1"/>
              <a:t>prvotni</a:t>
            </a:r>
            <a:r>
              <a:rPr lang="en-US" sz="1600" dirty="0"/>
              <a:t> </a:t>
            </a:r>
            <a:r>
              <a:rPr lang="en-US" sz="1600" dirty="0" err="1"/>
              <a:t>namen</a:t>
            </a:r>
            <a:r>
              <a:rPr lang="en-US" sz="1600" dirty="0"/>
              <a:t> </a:t>
            </a:r>
            <a:r>
              <a:rPr lang="en-US" sz="1600" dirty="0" err="1"/>
              <a:t>zbiranja</a:t>
            </a:r>
            <a:r>
              <a:rPr lang="sl-SI" sz="1600" dirty="0"/>
              <a:t>:</a:t>
            </a:r>
            <a:r>
              <a:rPr lang="en-US" sz="1600" dirty="0"/>
              <a:t> </a:t>
            </a:r>
            <a:r>
              <a:rPr lang="sl-SI" sz="1600" dirty="0"/>
              <a:t>Avtor je </a:t>
            </a:r>
            <a:r>
              <a:rPr lang="sl-SI" sz="1600" dirty="0" err="1"/>
              <a:t>dataset</a:t>
            </a:r>
            <a:r>
              <a:rPr lang="sl-SI" sz="1600" dirty="0"/>
              <a:t> pripravil za spremljanje uspešnosti igralcev skozi čas ter za analizo tekem in statistike.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/>
              <a:t>tip </a:t>
            </a:r>
            <a:r>
              <a:rPr lang="en-US" sz="1600" dirty="0" err="1"/>
              <a:t>podatkov</a:t>
            </a:r>
            <a:r>
              <a:rPr lang="en-US" sz="1600" dirty="0"/>
              <a:t> in </a:t>
            </a:r>
            <a:r>
              <a:rPr lang="en-US" sz="1600" dirty="0" err="1"/>
              <a:t>obseg</a:t>
            </a:r>
            <a:r>
              <a:rPr lang="sl-SI" sz="1600" dirty="0"/>
              <a:t>:</a:t>
            </a:r>
            <a:r>
              <a:rPr lang="en-US" sz="1600" dirty="0"/>
              <a:t> </a:t>
            </a:r>
            <a:r>
              <a:rPr lang="sl-SI" sz="1600" dirty="0"/>
              <a:t>Podatki vključujejo numerične in kategorične spremenljivke, kot so razlika v </a:t>
            </a:r>
            <a:r>
              <a:rPr lang="sl-SI" sz="1600" dirty="0" err="1"/>
              <a:t>rankingu</a:t>
            </a:r>
            <a:r>
              <a:rPr lang="sl-SI" sz="1600" dirty="0"/>
              <a:t>, starosti in statistike tekem. Po obdelavi imamo približno 135 tisoč primerov in okoli 8 do 10 atributov. Problem smo obravnavali kot binarno klasifikacijo, kjer napovedujemo zmago ali poraz.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V podatkih so bile prisotne manjkajoče vrednosti, predvsem pri statistiki tekem, kot so asi in dvojne napake. Težava je bila bolj izrazita pri starejših tekmah. Za poenostavitev smo takšne zapise odstranili, s čimer smo dobili čist in konsistenten </a:t>
            </a:r>
            <a:r>
              <a:rPr lang="sl-SI" sz="1600" dirty="0" err="1"/>
              <a:t>dataset</a:t>
            </a:r>
            <a:r>
              <a:rPr lang="sl-SI" sz="1600" dirty="0"/>
              <a:t>.</a:t>
            </a:r>
          </a:p>
          <a:p>
            <a:pPr>
              <a:buFontTx/>
              <a:buChar char="-"/>
            </a:pPr>
            <a:r>
              <a:rPr lang="sl-SI" sz="1600" dirty="0"/>
              <a:t>Podatke smo najprej združili iz več CSV datotek in izbrali relevantne atribute. Podatke smo preoblikovali v obliko, primerno za klasifikacijo, kjer primerjamo dva igralca. Ustvarili smo tudi nove </a:t>
            </a:r>
            <a:r>
              <a:rPr lang="sl-SI" sz="1600" dirty="0" err="1"/>
              <a:t>značilke</a:t>
            </a:r>
            <a:r>
              <a:rPr lang="sl-SI" sz="1600" dirty="0"/>
              <a:t>, kot so razlike v </a:t>
            </a:r>
            <a:r>
              <a:rPr lang="sl-SI" sz="1600" dirty="0" err="1"/>
              <a:t>rankingu</a:t>
            </a:r>
            <a:r>
              <a:rPr lang="sl-SI" sz="1600" dirty="0"/>
              <a:t> in starosti, ter pretvorili kategorične podatke v numerično obliko.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err="1"/>
              <a:t>Glavna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r>
              <a:rPr lang="en-US" sz="1600" b="1" dirty="0"/>
              <a:t>/</a:t>
            </a:r>
            <a:r>
              <a:rPr lang="en-US" sz="1600" b="1" dirty="0" err="1"/>
              <a:t>cilji</a:t>
            </a:r>
            <a:r>
              <a:rPr lang="en-US" sz="1600" b="1" dirty="0"/>
              <a:t> </a:t>
            </a:r>
            <a:r>
              <a:rPr lang="en-US" sz="1600" b="1" dirty="0" err="1"/>
              <a:t>podatkovnega</a:t>
            </a:r>
            <a:r>
              <a:rPr lang="en-US" sz="1600" b="1" dirty="0"/>
              <a:t> </a:t>
            </a:r>
            <a:r>
              <a:rPr lang="en-US" sz="1600" b="1" dirty="0" err="1"/>
              <a:t>rudarjenja</a:t>
            </a:r>
            <a:endParaRPr lang="en-US" sz="1600" b="1" dirty="0"/>
          </a:p>
          <a:p>
            <a:pPr>
              <a:buFontTx/>
              <a:buChar char="-"/>
            </a:pPr>
            <a:r>
              <a:rPr lang="sl-SI" sz="1600" dirty="0"/>
              <a:t>Razvoj modela strojnega učenja za napovedovanje zmagovalcev teniških dvobojev</a:t>
            </a:r>
          </a:p>
          <a:p>
            <a:pPr>
              <a:buFontTx/>
              <a:buChar char="-"/>
            </a:pPr>
            <a:r>
              <a:rPr lang="sl-SI" sz="1600" dirty="0"/>
              <a:t>Kateri podatki najbolj vplivajo / pripomorejo na napoved?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Kateri je najboljši model napovedovanja za te podatke?</a:t>
            </a:r>
            <a:endParaRPr lang="en-US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C06591-6F1C-3D47-A5E3-851DD4C33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57" y="2480808"/>
            <a:ext cx="2300583" cy="231979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sl-SI" dirty="0"/>
              <a:t>Nik Javor</a:t>
            </a:r>
            <a:endParaRPr lang="en-US" dirty="0"/>
          </a:p>
          <a:p>
            <a:r>
              <a:rPr lang="sl-SI" dirty="0"/>
              <a:t>Anže Barle Čuk</a:t>
            </a:r>
          </a:p>
          <a:p>
            <a:r>
              <a:rPr lang="sl-SI" dirty="0"/>
              <a:t>Nika Labazan</a:t>
            </a:r>
            <a:endParaRPr lang="en-US" dirty="0"/>
          </a:p>
          <a:p>
            <a:r>
              <a:rPr lang="sl-SI" dirty="0" err="1"/>
              <a:t>Irna</a:t>
            </a:r>
            <a:r>
              <a:rPr lang="sl-SI" dirty="0"/>
              <a:t> </a:t>
            </a:r>
            <a:r>
              <a:rPr lang="sl-SI" dirty="0" err="1"/>
              <a:t>Nuhić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DFD98F4-ADE1-F744-9B6A-40089884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312DDA-E7F7-8F45-A990-461B0008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786EEA-6C8C-664D-87E4-F9330A70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94EB-9AF8-C443-A38F-2140C80C7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5" y="589356"/>
            <a:ext cx="440343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600" dirty="0"/>
              <a:t>1. Cilj smo dosegli tako, da smo najprej pripravili podatke v </a:t>
            </a:r>
            <a:r>
              <a:rPr lang="sl-SI" sz="1600" dirty="0" err="1"/>
              <a:t>Pythonu</a:t>
            </a:r>
            <a:r>
              <a:rPr lang="sl-SI" sz="1600" dirty="0"/>
              <a:t>, kjer smo jih očistili in preoblikovali v obliko, primerno za klasifikacijo. Nato smo ustvarili dodatne </a:t>
            </a:r>
            <a:r>
              <a:rPr lang="sl-SI" sz="1600" dirty="0" err="1"/>
              <a:t>značilke</a:t>
            </a:r>
            <a:r>
              <a:rPr lang="sl-SI" sz="1600" dirty="0"/>
              <a:t>, kot so razlike med igralcema. Pripravljen </a:t>
            </a:r>
            <a:r>
              <a:rPr lang="sl-SI" sz="1600" dirty="0" err="1"/>
              <a:t>dataset</a:t>
            </a:r>
            <a:r>
              <a:rPr lang="sl-SI" sz="1600" dirty="0"/>
              <a:t> smo uvozili v </a:t>
            </a:r>
            <a:r>
              <a:rPr lang="sl-SI" sz="1600" dirty="0" err="1"/>
              <a:t>Orange</a:t>
            </a:r>
            <a:r>
              <a:rPr lang="sl-SI" sz="1600" dirty="0"/>
              <a:t>, kjer smo uporabili več modelov strojnega učenja in jih primerjali z uporabo različnih metrik ter vizualizacij.</a:t>
            </a:r>
          </a:p>
          <a:p>
            <a:pPr marL="0" indent="0">
              <a:buNone/>
            </a:pPr>
            <a:r>
              <a:rPr lang="sl-SI" sz="1600" dirty="0"/>
              <a:t>2. in 3. </a:t>
            </a:r>
            <a:r>
              <a:rPr lang="sl-SI" sz="1600" dirty="0" err="1"/>
              <a:t>Preiskusili</a:t>
            </a:r>
            <a:r>
              <a:rPr lang="sl-SI" sz="1600" dirty="0"/>
              <a:t> bomo še nekatere druge modele in jih primerjali med seboj. Pregledali bomo še ostale podatke na </a:t>
            </a:r>
            <a:r>
              <a:rPr lang="sl-SI" sz="1600" dirty="0" err="1"/>
              <a:t>GitHubu</a:t>
            </a:r>
            <a:r>
              <a:rPr lang="sl-SI" sz="1600" dirty="0"/>
              <a:t>, da ugotovimo, če nam dodatni podatki pomagajo pri končnih ugotovitvah.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FC9798E-C22A-6049-8D8E-80BEDDEA7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8962" y="589356"/>
            <a:ext cx="446227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600" dirty="0"/>
              <a:t>Med seboj smo primerjali 4 modele: naključni gozd,</a:t>
            </a:r>
            <a:r>
              <a:rPr lang="sl-SI" sz="1600" b="1" dirty="0"/>
              <a:t> </a:t>
            </a:r>
            <a:r>
              <a:rPr lang="sl-SI" sz="1600" dirty="0"/>
              <a:t>logistična regresija, nevronska mreža, gradientno </a:t>
            </a:r>
            <a:r>
              <a:rPr lang="sl-SI" sz="1600" dirty="0" err="1"/>
              <a:t>ojačevanje</a:t>
            </a:r>
            <a:r>
              <a:rPr lang="sl-SI" sz="1600" dirty="0"/>
              <a:t>.</a:t>
            </a:r>
          </a:p>
          <a:p>
            <a:r>
              <a:rPr lang="sl-SI" sz="1600" dirty="0"/>
              <a:t>Rezultati kažejo, da vsi modeli dosegajo podobno uspešnost, z natančnostjo okoli 70 %.</a:t>
            </a:r>
          </a:p>
          <a:p>
            <a:r>
              <a:rPr lang="sl-SI" sz="1600" dirty="0"/>
              <a:t>Najboljši rezultat je dosegla</a:t>
            </a:r>
            <a:r>
              <a:rPr lang="sl-SI" sz="1600" b="1" dirty="0"/>
              <a:t> </a:t>
            </a:r>
            <a:r>
              <a:rPr lang="sl-SI" sz="1600" dirty="0"/>
              <a:t>nevronska mreža z natančnostjo približno 70,9 % in najvišjo vrednostjo AUC (0,778).</a:t>
            </a:r>
          </a:p>
          <a:p>
            <a:r>
              <a:rPr lang="sl-SI" sz="1600" dirty="0"/>
              <a:t>Zelo podobne rezultate dosega tudi gradientno</a:t>
            </a:r>
            <a:r>
              <a:rPr lang="sl-SI" sz="1600" b="1" dirty="0"/>
              <a:t> </a:t>
            </a:r>
            <a:r>
              <a:rPr lang="sl-SI" sz="1600" dirty="0" err="1"/>
              <a:t>ojačevanje</a:t>
            </a:r>
            <a:r>
              <a:rPr lang="sl-SI" sz="1600" dirty="0"/>
              <a:t>, ki je le nekoliko slabši, medtem ko logistična regresija dosega nekoliko nižjo natančnost. Najslabše rezultate med uporabljenimi modeli ima naključni gozd, ki dosega približno 67,5 % natančnost.</a:t>
            </a:r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814E3-8963-334D-848C-E4EE0D7A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4343F5-9AFD-314A-B851-B4B16EF4AB6C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B9F5A0B-66B3-574B-8ADF-47E9BEA982E5}"/>
              </a:ext>
            </a:extLst>
          </p:cNvPr>
          <p:cNvSpPr txBox="1">
            <a:spLocks/>
          </p:cNvSpPr>
          <p:nvPr/>
        </p:nvSpPr>
        <p:spPr>
          <a:xfrm>
            <a:off x="4572000" y="720327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225E6-F674-D74E-9E6E-25DF3C6A53B1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82387C3-9A8A-9A47-8F63-FDB8F168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D533418-37C8-B143-91FA-663B1D49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5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97-45F8-4B43-BA59-BC34FE1B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" y="102394"/>
            <a:ext cx="8945218" cy="410942"/>
          </a:xfrm>
        </p:spPr>
        <p:txBody>
          <a:bodyPr>
            <a:normAutofit/>
          </a:bodyPr>
          <a:lstStyle/>
          <a:p>
            <a:r>
              <a:rPr lang="en-US" sz="1600" b="1" dirty="0" err="1">
                <a:latin typeface="+mn-lt"/>
              </a:rPr>
              <a:t>Dodatna</a:t>
            </a:r>
            <a:r>
              <a:rPr lang="en-US" sz="1600" b="1" dirty="0">
                <a:latin typeface="+mn-lt"/>
              </a:rPr>
              <a:t> </a:t>
            </a:r>
            <a:r>
              <a:rPr lang="en-US" sz="1600" b="1" dirty="0" err="1">
                <a:latin typeface="+mn-lt"/>
              </a:rPr>
              <a:t>prosojnica</a:t>
            </a:r>
            <a:r>
              <a:rPr lang="en-US" sz="1600" b="1" dirty="0">
                <a:latin typeface="+mn-lt"/>
              </a:rPr>
              <a:t> za </a:t>
            </a:r>
            <a:r>
              <a:rPr lang="en-US" sz="1600" b="1" dirty="0" err="1">
                <a:latin typeface="+mn-lt"/>
              </a:rPr>
              <a:t>rezultate</a:t>
            </a:r>
            <a:r>
              <a:rPr lang="en-US" sz="1600" b="1" dirty="0">
                <a:latin typeface="+mn-lt"/>
              </a:rPr>
              <a:t> oz. </a:t>
            </a:r>
            <a:r>
              <a:rPr lang="en-US" sz="1600" b="1" dirty="0" err="1">
                <a:latin typeface="+mn-lt"/>
              </a:rPr>
              <a:t>odprta</a:t>
            </a:r>
            <a:r>
              <a:rPr lang="en-US" sz="1600" b="1" dirty="0">
                <a:latin typeface="+mn-lt"/>
              </a:rPr>
              <a:t> </a:t>
            </a:r>
            <a:r>
              <a:rPr lang="en-US" sz="1600" b="1" dirty="0" err="1">
                <a:latin typeface="+mn-lt"/>
              </a:rPr>
              <a:t>vprašanja</a:t>
            </a:r>
            <a:r>
              <a:rPr lang="en-US" sz="1600" b="1" dirty="0">
                <a:latin typeface="+mn-lt"/>
              </a:rPr>
              <a:t> (</a:t>
            </a:r>
            <a:r>
              <a:rPr lang="en-US" sz="1600" b="1" dirty="0" err="1">
                <a:latin typeface="+mn-lt"/>
              </a:rPr>
              <a:t>če</a:t>
            </a:r>
            <a:r>
              <a:rPr lang="en-US" sz="1600" b="1" dirty="0">
                <a:latin typeface="+mn-lt"/>
              </a:rPr>
              <a:t> </a:t>
            </a:r>
            <a:r>
              <a:rPr lang="en-US" sz="1600" b="1" dirty="0" err="1">
                <a:latin typeface="+mn-lt"/>
              </a:rPr>
              <a:t>potrebno</a:t>
            </a:r>
            <a:r>
              <a:rPr lang="en-US" sz="1600" b="1" dirty="0">
                <a:latin typeface="+mn-lt"/>
              </a:rPr>
              <a:t>)</a:t>
            </a:r>
          </a:p>
        </p:txBody>
      </p:sp>
      <p:pic>
        <p:nvPicPr>
          <p:cNvPr id="10" name="Označba mesta vsebine 9">
            <a:extLst>
              <a:ext uri="{FF2B5EF4-FFF2-40B4-BE49-F238E27FC236}">
                <a16:creationId xmlns:a16="http://schemas.microsoft.com/office/drawing/2014/main" id="{D6A5671F-CC56-E826-4BB4-A6E4B1B14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63" y="3984787"/>
            <a:ext cx="3095624" cy="1012664"/>
          </a:xfrm>
          <a:prstGeom prst="rect">
            <a:avLst/>
          </a:prstGeom>
          <a:ln>
            <a:solidFill>
              <a:prstClr val="black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65B7-6F2E-D145-A02C-A24F07A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3</a:t>
            </a:fld>
            <a:endParaRPr lang="en-US"/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07C4AC33-717C-454A-96DC-39E4E45F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1E484604-5097-374A-BB61-C5B3CD4C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13" name="Slika 12">
            <a:extLst>
              <a:ext uri="{FF2B5EF4-FFF2-40B4-BE49-F238E27FC236}">
                <a16:creationId xmlns:a16="http://schemas.microsoft.com/office/drawing/2014/main" id="{A54CCFB9-30CB-912E-3368-301EC262F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513336"/>
            <a:ext cx="6325552" cy="335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2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567</TotalTime>
  <Words>481</Words>
  <Application>Microsoft Office PowerPoint</Application>
  <PresentationFormat>Diaprojekcija na zaslonu (16:9)</PresentationFormat>
  <Paragraphs>35</Paragraphs>
  <Slides>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Napovedovanje izidov teniških tekem</vt:lpstr>
      <vt:lpstr>PowerPointova predstavitev</vt:lpstr>
      <vt:lpstr>Dodatna prosojnica za rezultate oz. odprta vprašanja (če potrebno)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Naslov projekta naj bo kratek, informativen in naj povzame bistvo projekta</dc:title>
  <dc:subject/>
  <dc:creator/>
  <cp:keywords/>
  <dc:description/>
  <cp:lastModifiedBy>Nika Labazan</cp:lastModifiedBy>
  <cp:revision>41</cp:revision>
  <dcterms:created xsi:type="dcterms:W3CDTF">2020-04-03T06:53:29Z</dcterms:created>
  <dcterms:modified xsi:type="dcterms:W3CDTF">2026-04-14T20:37:38Z</dcterms:modified>
  <cp:category/>
</cp:coreProperties>
</file>